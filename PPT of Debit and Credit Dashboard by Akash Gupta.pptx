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9" r:id="rId4"/>
    <p:sldId id="260" r:id="rId5"/>
    <p:sldId id="261" r:id="rId6"/>
    <p:sldId id="267" r:id="rId7"/>
    <p:sldId id="262" r:id="rId8"/>
    <p:sldId id="263" r:id="rId9"/>
    <p:sldId id="265" r:id="rId10"/>
    <p:sldId id="264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78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2A4EB-2745-9FF0-E11B-05B5DE230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D2343-DA5D-1B49-F69A-1CC3A968F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E2643-C153-B219-8396-191F2CD0F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75D09-B856-4D2C-B562-FABB33C8ED4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1D8D2-6F8C-A86E-BC83-9F19FE481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168AD-9B3A-14FD-4F4C-D22DBFE43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B103-63D3-4899-A922-AD4B9CF44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996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0AE43-E509-49DE-A967-DF9746D8D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61E78-AA9D-5777-A03A-31B16B01C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3F995-A41F-B2D1-E8B0-17A2DDD47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75D09-B856-4D2C-B562-FABB33C8ED4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562EB-3ADD-2977-CEB3-B5B2E2F1F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63564-2194-AB8C-413C-57BBDE622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B103-63D3-4899-A922-AD4B9CF44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758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C3A6B-339C-4798-0242-9742BA1E0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A7143-DAB7-8535-A84D-A54A4A557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C4E0C-1536-A4D9-94AC-D092A83B2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75D09-B856-4D2C-B562-FABB33C8ED4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1B8ED-A328-791E-A819-E67D1C45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4FA6A-7D62-CDF1-A808-41E9B406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B103-63D3-4899-A922-AD4B9CF44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454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59AAC-3BF8-7DF4-F2A4-E886FB2B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505C5-4586-8C10-67A9-8C2CD67B5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FC67D-ACA5-93D3-87FA-706407FFE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F04D6-E4B7-E6E5-0D8A-BA4684623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75D09-B856-4D2C-B562-FABB33C8ED4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322C8-0B3C-46DE-2E0C-43F0D40BE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D2D2F-9BCA-FC73-EB67-B9ECB29D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B103-63D3-4899-A922-AD4B9CF44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351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8955B-1239-EC98-3695-506345085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4C6E2-DA37-EBE3-4D0B-C013FE2FB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83E4E-08AF-985D-1A6B-FF288D724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3AEC41-95C6-D5FD-F51C-296082EF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E6599-A818-1FE3-80F1-957510934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9E55C-8E43-1912-8E24-1E23A9080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75D09-B856-4D2C-B562-FABB33C8ED4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73318F-E255-BAE8-3115-FDCB514A9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F4616-60BE-06F2-45B2-316383A0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B103-63D3-4899-A922-AD4B9CF44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94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49DE-582F-3EB2-E7DC-2860F25A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C6B106-C884-9F62-2C46-696973BC3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75D09-B856-4D2C-B562-FABB33C8ED4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6BB135-AD33-00CC-E921-F1EF517F1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95F12-B2CA-3402-009F-0EBBB7229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B103-63D3-4899-A922-AD4B9CF44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59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39A1D-4454-BC2C-FBA7-8AE28C8B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75D09-B856-4D2C-B562-FABB33C8ED4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733505-15B3-FB21-9573-0BBA2D452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B467B-08B5-F7F1-9ABF-D8F7FECF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B103-63D3-4899-A922-AD4B9CF44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08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631DB-D6F8-F085-EEE8-DB5B82E29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D5F5C-00C7-2F64-C9B3-DFE953783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55A43-BE55-1CCC-079F-0395C1449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18CD0-6CA2-60A1-6F55-5F9002E75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75D09-B856-4D2C-B562-FABB33C8ED4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B3D4D-F383-2E0F-C27E-0341051D5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FEB10-2142-516A-197C-A896C216E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B103-63D3-4899-A922-AD4B9CF44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773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013D-9239-C1C7-F186-4113E94A0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88FF96-4528-F18C-C9BB-22110B8F2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A62B7-9E6E-6E90-8305-C868372FF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0C3C9-993D-A4E4-0878-CA0E8265B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75D09-B856-4D2C-B562-FABB33C8ED4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439D6-45C6-CC75-6E21-B0F030DC8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4729C-D848-2557-2361-0C276D7C5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B103-63D3-4899-A922-AD4B9CF44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5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BA4A-2A64-1E31-C72F-FDCFD827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BCADE-5325-9BDF-CE81-6106E8C24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AAEA7-EAE7-953F-72B5-48F00E771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75D09-B856-4D2C-B562-FABB33C8ED4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ABD42-B9EE-9EFB-EE28-8EF0301D6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86A19-D007-FCF6-D263-B26C7DD9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B103-63D3-4899-A922-AD4B9CF44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467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7F541C-E06D-701A-C8AC-083688BC9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87821E-8C8D-5EBF-C589-F5E7F33D1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CB290-D1DC-0791-58AE-638F5B3BE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75D09-B856-4D2C-B562-FABB33C8ED4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C80F8-CB3E-B8CB-647A-FFDA83B4B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5F46-77A0-E389-A2A4-D23535351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B103-63D3-4899-A922-AD4B9CF44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758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49D10C-1088-5EF9-A820-F6741CB7C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F540B-D61C-8C1B-69F5-3D4476EEA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EDB1C-67AC-A6DC-8075-98807170B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75D09-B856-4D2C-B562-FABB33C8ED4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D317B-A950-7F0F-B191-30AABDBFC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A6035-FDF4-4CB9-0B13-C98A36695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D1B103-63D3-4899-A922-AD4B9CF44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45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  <a:alpha val="1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850B80-0C1B-BE56-BDF9-B0C8F170AE5F}"/>
              </a:ext>
            </a:extLst>
          </p:cNvPr>
          <p:cNvSpPr txBox="1"/>
          <p:nvPr/>
        </p:nvSpPr>
        <p:spPr>
          <a:xfrm>
            <a:off x="511273" y="3429000"/>
            <a:ext cx="82590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French Script MT" panose="03020402040607040605" pitchFamily="66" charset="0"/>
              </a:rPr>
              <a:t>Bank Analytics</a:t>
            </a:r>
            <a:endParaRPr lang="en-IN" sz="9600" dirty="0">
              <a:latin typeface="French Script MT" panose="03020402040607040605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B5FCD-E535-032C-BEA2-3E1E0149330D}"/>
              </a:ext>
            </a:extLst>
          </p:cNvPr>
          <p:cNvSpPr txBox="1"/>
          <p:nvPr/>
        </p:nvSpPr>
        <p:spPr>
          <a:xfrm>
            <a:off x="4306530" y="4744101"/>
            <a:ext cx="6390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Freestyle Script" panose="030804020302050B0404" pitchFamily="66" charset="0"/>
              </a:rPr>
              <a:t>By Akash Gupta.</a:t>
            </a:r>
            <a:endParaRPr lang="en-IN" sz="4000" dirty="0">
              <a:latin typeface="Freestyle Script" panose="030804020302050B04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33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7FF706-5E9E-E4BA-F0A8-E4A1992923D5}"/>
              </a:ext>
            </a:extLst>
          </p:cNvPr>
          <p:cNvSpPr txBox="1"/>
          <p:nvPr/>
        </p:nvSpPr>
        <p:spPr>
          <a:xfrm>
            <a:off x="437534" y="1565800"/>
            <a:ext cx="11002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5400" b="1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Light SemiConde" panose="020B0502040204020203" pitchFamily="34" charset="0"/>
              </a:defRPr>
            </a:lvl1pPr>
          </a:lstStyle>
          <a:p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Project Goal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26190-4C64-A19B-B93E-878ABB708627}"/>
              </a:ext>
            </a:extLst>
          </p:cNvPr>
          <p:cNvSpPr txBox="1"/>
          <p:nvPr/>
        </p:nvSpPr>
        <p:spPr>
          <a:xfrm>
            <a:off x="437534" y="2005779"/>
            <a:ext cx="88441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r>
              <a:rPr lang="en-US" sz="2400" dirty="0"/>
              <a:t>To analyze and visualize debit and credit transactions across different banks and branches to monitor account activities, compare performance, and identify transaction trends.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ACB2F7-7017-18AB-DD52-47323822AF28}"/>
              </a:ext>
            </a:extLst>
          </p:cNvPr>
          <p:cNvSpPr txBox="1"/>
          <p:nvPr/>
        </p:nvSpPr>
        <p:spPr>
          <a:xfrm>
            <a:off x="437534" y="3569143"/>
            <a:ext cx="62680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4A78B-978A-93E3-7795-D96C978F3975}"/>
              </a:ext>
            </a:extLst>
          </p:cNvPr>
          <p:cNvSpPr txBox="1"/>
          <p:nvPr/>
        </p:nvSpPr>
        <p:spPr>
          <a:xfrm>
            <a:off x="437534" y="4363065"/>
            <a:ext cx="84901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dashboard provides a monthly overview of debit and credit performance for multiple banks.</a:t>
            </a:r>
            <a:br>
              <a:rPr lang="en-US" sz="2400" dirty="0"/>
            </a:br>
            <a:r>
              <a:rPr lang="en-US" sz="2400" dirty="0"/>
              <a:t>It helps understand key transaction behaviors, customer preferences, and overall financial activity in an easy-to-read visual format.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C0AF47-6173-17C0-6806-A18559E0DD85}"/>
              </a:ext>
            </a:extLst>
          </p:cNvPr>
          <p:cNvSpPr txBox="1"/>
          <p:nvPr/>
        </p:nvSpPr>
        <p:spPr>
          <a:xfrm>
            <a:off x="437533" y="522445"/>
            <a:ext cx="11002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5400" b="1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Light SemiConde" panose="020B0502040204020203" pitchFamily="34" charset="0"/>
              </a:defRPr>
            </a:lvl1pPr>
          </a:lstStyle>
          <a:p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Project :</a:t>
            </a:r>
            <a:r>
              <a:rPr lang="en-IN" sz="4000" dirty="0"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Debit &amp; Credit Dashboard </a:t>
            </a:r>
          </a:p>
        </p:txBody>
      </p:sp>
    </p:spTree>
    <p:extLst>
      <p:ext uri="{BB962C8B-B14F-4D97-AF65-F5344CB8AC3E}">
        <p14:creationId xmlns:p14="http://schemas.microsoft.com/office/powerpoint/2010/main" val="542693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145770-13D6-7962-1863-B38FC47509F6}"/>
              </a:ext>
            </a:extLst>
          </p:cNvPr>
          <p:cNvSpPr txBox="1"/>
          <p:nvPr/>
        </p:nvSpPr>
        <p:spPr>
          <a:xfrm>
            <a:off x="481781" y="339743"/>
            <a:ext cx="944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Dataset 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86EC36-6E78-F976-308A-0820F9876F41}"/>
              </a:ext>
            </a:extLst>
          </p:cNvPr>
          <p:cNvSpPr txBox="1"/>
          <p:nvPr/>
        </p:nvSpPr>
        <p:spPr>
          <a:xfrm>
            <a:off x="481781" y="986074"/>
            <a:ext cx="11012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Data Source: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/>
              <a:t>Bank transaction data collected from multiple branches and banks.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37A2D-417C-0606-BD54-30B03259A051}"/>
              </a:ext>
            </a:extLst>
          </p:cNvPr>
          <p:cNvSpPr txBox="1"/>
          <p:nvPr/>
        </p:nvSpPr>
        <p:spPr>
          <a:xfrm>
            <a:off x="481781" y="1570849"/>
            <a:ext cx="11100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Data Cleaning :</a:t>
            </a:r>
          </a:p>
          <a:p>
            <a:pPr marL="342900" indent="-342900">
              <a:buAutoNum type="arabicPeriod"/>
            </a:pPr>
            <a:r>
              <a:rPr lang="en-US" dirty="0"/>
              <a:t>First I have get Raw Dataset and Cleaning Process is done in Excel </a:t>
            </a:r>
          </a:p>
          <a:p>
            <a:pPr marL="342900" indent="-342900">
              <a:buAutoNum type="arabicPeriod"/>
            </a:pPr>
            <a:r>
              <a:rPr lang="en-US" dirty="0"/>
              <a:t>So in Cleaning Process I have get Almost Clean Data so In This Data  I have Just Change Data Type of Column Amount in text to Decimal And Transaction Date in Date/time converted into Date.</a:t>
            </a:r>
          </a:p>
          <a:p>
            <a:pPr marL="342900" indent="-342900">
              <a:buAutoNum type="arabicPeriod"/>
            </a:pPr>
            <a:r>
              <a:rPr lang="en-US" dirty="0"/>
              <a:t>Then I have convert this  this Excel File into CSV File.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E7D1F9-05CB-D8CF-A324-E6F035BDEAF0}"/>
              </a:ext>
            </a:extLst>
          </p:cNvPr>
          <p:cNvSpPr txBox="1"/>
          <p:nvPr/>
        </p:nvSpPr>
        <p:spPr>
          <a:xfrm>
            <a:off x="481781" y="2979351"/>
            <a:ext cx="106778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SQL:</a:t>
            </a:r>
          </a:p>
          <a:p>
            <a:pPr marL="342900" indent="-342900">
              <a:buAutoNum type="arabicPeriod"/>
            </a:pPr>
            <a:r>
              <a:rPr lang="en-US" dirty="0"/>
              <a:t>I have Import this CSV File in SQL WORKBENCH in SQL WORKBENCH I Have Performed KPI in that I have write a Syntax to see the Values of that KPI.</a:t>
            </a:r>
          </a:p>
          <a:p>
            <a:pPr marL="342900" indent="-342900">
              <a:buAutoNum type="arabicPeriod"/>
            </a:pPr>
            <a:r>
              <a:rPr lang="en-US" dirty="0"/>
              <a:t>KPI I have Performed in SQL Workbench</a:t>
            </a:r>
          </a:p>
          <a:p>
            <a:r>
              <a:rPr lang="en-US" dirty="0"/>
              <a:t>        </a:t>
            </a:r>
            <a:r>
              <a:rPr lang="en-IN" b="1" dirty="0"/>
              <a:t>.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Total Credit Amount</a:t>
            </a:r>
          </a:p>
          <a:p>
            <a:r>
              <a:rPr lang="en-US" dirty="0"/>
              <a:t>        </a:t>
            </a:r>
            <a:r>
              <a:rPr lang="en-IN" b="1" dirty="0"/>
              <a:t>.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Total Debit Amount</a:t>
            </a:r>
          </a:p>
          <a:p>
            <a:r>
              <a:rPr lang="en-US" dirty="0"/>
              <a:t>        </a:t>
            </a:r>
            <a:r>
              <a:rPr lang="en-IN" b="1" dirty="0"/>
              <a:t>.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Account Activity Ratio</a:t>
            </a:r>
          </a:p>
          <a:p>
            <a:r>
              <a:rPr lang="en-US" dirty="0"/>
              <a:t>        </a:t>
            </a:r>
            <a:r>
              <a:rPr lang="en-IN" b="1" dirty="0"/>
              <a:t>.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Net Transaction Amount</a:t>
            </a:r>
          </a:p>
          <a:p>
            <a:r>
              <a:rPr lang="en-US" dirty="0"/>
              <a:t>        </a:t>
            </a:r>
            <a:r>
              <a:rPr lang="en-IN" b="1" dirty="0"/>
              <a:t>.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Credit &amp; Debit Ratio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2716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AAC7D5-DFE7-C5FA-7C66-6117B287D256}"/>
              </a:ext>
            </a:extLst>
          </p:cNvPr>
          <p:cNvSpPr txBox="1"/>
          <p:nvPr/>
        </p:nvSpPr>
        <p:spPr>
          <a:xfrm>
            <a:off x="417871" y="186812"/>
            <a:ext cx="11356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Key Performance Indicators (KPIs)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594DB7-0684-93BC-930F-27B184401349}"/>
              </a:ext>
            </a:extLst>
          </p:cNvPr>
          <p:cNvSpPr txBox="1"/>
          <p:nvPr/>
        </p:nvSpPr>
        <p:spPr>
          <a:xfrm>
            <a:off x="417871" y="771587"/>
            <a:ext cx="360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1. Total Credit Amount: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₹127.60M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8901A-44D3-86F0-4646-9462A576F31E}"/>
              </a:ext>
            </a:extLst>
          </p:cNvPr>
          <p:cNvSpPr txBox="1"/>
          <p:nvPr/>
        </p:nvSpPr>
        <p:spPr>
          <a:xfrm>
            <a:off x="776745" y="1068830"/>
            <a:ext cx="5506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Shows the Total Value of Credit Transaction Made, Highlighting the Overall Funds extended or Credited to  Customer During in Period.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EEECF8-4480-76BE-EBC5-C0F58800C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692" y="870098"/>
            <a:ext cx="2541646" cy="9233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2A914B-35B8-DA9D-4EF3-6900FA1C3F44}"/>
              </a:ext>
            </a:extLst>
          </p:cNvPr>
          <p:cNvSpPr txBox="1"/>
          <p:nvPr/>
        </p:nvSpPr>
        <p:spPr>
          <a:xfrm>
            <a:off x="417870" y="1990067"/>
            <a:ext cx="360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2. Total Debit Amount: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₹127.29M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1B40BC-3327-CDEB-79EF-76B83F54E7E5}"/>
              </a:ext>
            </a:extLst>
          </p:cNvPr>
          <p:cNvSpPr txBox="1"/>
          <p:nvPr/>
        </p:nvSpPr>
        <p:spPr>
          <a:xfrm>
            <a:off x="776744" y="2305203"/>
            <a:ext cx="5506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Indicates the Total Amount Debited from Customer Accounts, Reflecting Overall Payments Withdrawal's or Outgoing Financial Transaction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A0071E-11A6-7836-77F5-E2DAC0A20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692" y="1990067"/>
            <a:ext cx="2541636" cy="10277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5A42BF-BD90-B5C0-B6E5-E08E665138F2}"/>
              </a:ext>
            </a:extLst>
          </p:cNvPr>
          <p:cNvSpPr txBox="1"/>
          <p:nvPr/>
        </p:nvSpPr>
        <p:spPr>
          <a:xfrm>
            <a:off x="417848" y="3244334"/>
            <a:ext cx="360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3. Account Activity Ratio: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0.019%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32E3FB-7548-6FB0-DBE2-525E279B48D7}"/>
              </a:ext>
            </a:extLst>
          </p:cNvPr>
          <p:cNvSpPr txBox="1"/>
          <p:nvPr/>
        </p:nvSpPr>
        <p:spPr>
          <a:xfrm>
            <a:off x="776743" y="3561264"/>
            <a:ext cx="5506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KPI is Showing Customer Engagement through Transaction Activity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1897AC-C7C5-7EAC-0EA8-FD51EF6539A6}"/>
              </a:ext>
            </a:extLst>
          </p:cNvPr>
          <p:cNvSpPr txBox="1"/>
          <p:nvPr/>
        </p:nvSpPr>
        <p:spPr>
          <a:xfrm>
            <a:off x="688253" y="4496061"/>
            <a:ext cx="5506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Represent the Overall Net Value after offsetting Total Debits against Credit, reflecting the Organization’s Actual Financial Movement or Balance.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0BC365-8BF7-C40A-E061-2D29C63C5006}"/>
              </a:ext>
            </a:extLst>
          </p:cNvPr>
          <p:cNvSpPr txBox="1"/>
          <p:nvPr/>
        </p:nvSpPr>
        <p:spPr>
          <a:xfrm>
            <a:off x="417858" y="4205012"/>
            <a:ext cx="4163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4. Net Transaction Amount: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₹318.12K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B27E99-F743-C41F-5D0B-2D69DECCA084}"/>
              </a:ext>
            </a:extLst>
          </p:cNvPr>
          <p:cNvSpPr txBox="1"/>
          <p:nvPr/>
        </p:nvSpPr>
        <p:spPr>
          <a:xfrm>
            <a:off x="417858" y="5419391"/>
            <a:ext cx="4163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5. Credit &amp; Debit Ratio: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1.00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AC18C8-676B-7463-1FB2-3D5EAED4FA03}"/>
              </a:ext>
            </a:extLst>
          </p:cNvPr>
          <p:cNvSpPr txBox="1"/>
          <p:nvPr/>
        </p:nvSpPr>
        <p:spPr>
          <a:xfrm>
            <a:off x="688253" y="5717908"/>
            <a:ext cx="5506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Represents the proportion between Total Credit and Debit Amounts, Indicating a nearly Balanced Financial Flow with Slightly Higher Credit Activity.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4ED60-BCE4-5338-D717-1EDBD0FD7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692" y="3185319"/>
            <a:ext cx="2541636" cy="9905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96BBB7-FFE6-479A-9F07-D35E667058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1692" y="4343446"/>
            <a:ext cx="2541636" cy="10759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B914D1-E163-A940-ACD8-C8EE1CFD80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1692" y="5586928"/>
            <a:ext cx="2541636" cy="105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321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69D583-CEA8-8B01-82A4-3E1E05EF077D}"/>
              </a:ext>
            </a:extLst>
          </p:cNvPr>
          <p:cNvSpPr txBox="1"/>
          <p:nvPr/>
        </p:nvSpPr>
        <p:spPr>
          <a:xfrm>
            <a:off x="68826" y="41927"/>
            <a:ext cx="5388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Dashboard Overview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4B92FC-A7D8-8B1A-068C-4CEF120CB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49" y="688258"/>
            <a:ext cx="11874699" cy="605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20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A0284-9854-843A-BB5F-B74593895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D45C42-7A5E-3FBF-3AC0-15203C6391A7}"/>
              </a:ext>
            </a:extLst>
          </p:cNvPr>
          <p:cNvSpPr txBox="1"/>
          <p:nvPr/>
        </p:nvSpPr>
        <p:spPr>
          <a:xfrm>
            <a:off x="186813" y="421980"/>
            <a:ext cx="5388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Visual Insights: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DA5961-A33F-BF78-1EB5-0C0A6D8DB6D9}"/>
              </a:ext>
            </a:extLst>
          </p:cNvPr>
          <p:cNvSpPr txBox="1"/>
          <p:nvPr/>
        </p:nvSpPr>
        <p:spPr>
          <a:xfrm>
            <a:off x="186814" y="4670733"/>
            <a:ext cx="64204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Branch &amp; Bank Analysis: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Filters available for Branch and Bank Name to view specific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Axis Bank, ICICI Bank, and HDFC Bank show high transaction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Punjab National Bank and Kotak Mahindra Bank follow closely.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67778-FA9F-4FC6-1AFF-67E712F3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74" y="1858139"/>
            <a:ext cx="4948153" cy="23901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D31B67-18A1-213D-E508-B2FA20DDE6E8}"/>
              </a:ext>
            </a:extLst>
          </p:cNvPr>
          <p:cNvSpPr txBox="1"/>
          <p:nvPr/>
        </p:nvSpPr>
        <p:spPr>
          <a:xfrm>
            <a:off x="186814" y="1279519"/>
            <a:ext cx="5653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1.Account Balances vs Transaction Amounts of Bank</a:t>
            </a:r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617B00-6363-323B-5BB6-7E26606C2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26" y="1863253"/>
            <a:ext cx="3513319" cy="238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84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20D83C-0DF1-EBD8-F56A-B48F0DA3CD85}"/>
              </a:ext>
            </a:extLst>
          </p:cNvPr>
          <p:cNvSpPr txBox="1"/>
          <p:nvPr/>
        </p:nvSpPr>
        <p:spPr>
          <a:xfrm>
            <a:off x="235974" y="78658"/>
            <a:ext cx="6695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Visual Insights: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E7BB33-CE56-F7D9-2391-DC4D2EDC0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4" y="724989"/>
            <a:ext cx="4770454" cy="2824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6934A0-2CFA-B8B1-26C2-CC9BC9676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24989"/>
            <a:ext cx="5860024" cy="27040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06377F-AF83-F50A-FF15-E0AC54D0CBED}"/>
              </a:ext>
            </a:extLst>
          </p:cNvPr>
          <p:cNvSpPr txBox="1"/>
          <p:nvPr/>
        </p:nvSpPr>
        <p:spPr>
          <a:xfrm>
            <a:off x="235974" y="3549445"/>
            <a:ext cx="4770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Transaction Type Prefer by Customers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C9FB7B-2396-6376-2F08-4669DC96B1A4}"/>
              </a:ext>
            </a:extLst>
          </p:cNvPr>
          <p:cNvSpPr txBox="1"/>
          <p:nvPr/>
        </p:nvSpPr>
        <p:spPr>
          <a:xfrm>
            <a:off x="235974" y="4065577"/>
            <a:ext cx="51422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</a:t>
            </a:r>
            <a:r>
              <a:rPr lang="en-US" b="1" dirty="0"/>
              <a:t>Pie Chart </a:t>
            </a:r>
            <a:r>
              <a:rPr lang="en-US" dirty="0"/>
              <a:t>Highlights The Most Frequently used of Transaction types by Customers. Providing Insights into user preference and Banking Behavior Trends</a:t>
            </a:r>
          </a:p>
          <a:p>
            <a:endParaRPr lang="en-US" dirty="0"/>
          </a:p>
          <a:p>
            <a:r>
              <a:rPr lang="en-US" b="1" dirty="0"/>
              <a:t>Pie Chart:</a:t>
            </a:r>
            <a:r>
              <a:rPr lang="en-US" dirty="0"/>
              <a:t> Shows customer preference for transaction types — Debit Card (33.41%) slightly higher than Bank Transfer and Credit Card. 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F220E3-50C3-F4F2-14ED-7FC13776298C}"/>
              </a:ext>
            </a:extLst>
          </p:cNvPr>
          <p:cNvSpPr txBox="1"/>
          <p:nvPr/>
        </p:nvSpPr>
        <p:spPr>
          <a:xfrm>
            <a:off x="6096000" y="3549445"/>
            <a:ext cx="4770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Transaction Amount by Category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CD5569-1A40-046C-4C6D-949B0BD09B23}"/>
              </a:ext>
            </a:extLst>
          </p:cNvPr>
          <p:cNvSpPr txBox="1"/>
          <p:nvPr/>
        </p:nvSpPr>
        <p:spPr>
          <a:xfrm>
            <a:off x="6096000" y="4019410"/>
            <a:ext cx="51422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</a:t>
            </a:r>
            <a:r>
              <a:rPr lang="en-US" b="1" dirty="0"/>
              <a:t>Area Chart </a:t>
            </a:r>
            <a:r>
              <a:rPr lang="en-US" dirty="0"/>
              <a:t>shows the Total Value of Transactions Grouped by Category Helping to Identify which Categories Contributes Most to Overall Financial Activity.</a:t>
            </a:r>
          </a:p>
          <a:p>
            <a:r>
              <a:rPr lang="en-US" dirty="0"/>
              <a:t>With the Help of Filter we can see Each Bank and there Branch  Wise </a:t>
            </a:r>
            <a:r>
              <a:rPr lang="en-US" b="1" dirty="0"/>
              <a:t>Transaction Amount by Category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67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495EE9-6825-4536-3DAE-A99759C78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68" y="88490"/>
            <a:ext cx="5702709" cy="41688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B7D220-FC14-0EA6-827F-524EBE484F72}"/>
              </a:ext>
            </a:extLst>
          </p:cNvPr>
          <p:cNvSpPr txBox="1"/>
          <p:nvPr/>
        </p:nvSpPr>
        <p:spPr>
          <a:xfrm>
            <a:off x="98323" y="88491"/>
            <a:ext cx="5260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4.Debit Amount Wise MoM %  Change by Month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983D4-4D3C-5B78-FBAC-2C6F89B27E2F}"/>
              </a:ext>
            </a:extLst>
          </p:cNvPr>
          <p:cNvSpPr txBox="1"/>
          <p:nvPr/>
        </p:nvSpPr>
        <p:spPr>
          <a:xfrm>
            <a:off x="98323" y="521110"/>
            <a:ext cx="621398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What This Chart Shows:</a:t>
            </a:r>
          </a:p>
          <a:p>
            <a:r>
              <a:rPr lang="en-US" sz="1400" dirty="0"/>
              <a:t>This visual compares the </a:t>
            </a:r>
            <a:r>
              <a:rPr lang="en-US" sz="1400" b="1" dirty="0"/>
              <a:t>Monthly Debit Amounts (bars)</a:t>
            </a:r>
            <a:r>
              <a:rPr lang="en-US" sz="1400" dirty="0"/>
              <a:t> with their </a:t>
            </a:r>
            <a:r>
              <a:rPr lang="en-US" sz="1400" b="1" dirty="0"/>
              <a:t>Month-over-Month (MoM) percentage change (line)</a:t>
            </a:r>
            <a:r>
              <a:rPr lang="en-US" sz="1400" dirty="0"/>
              <a:t> throughout the year.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Bars (Purple Columns):</a:t>
            </a:r>
            <a:r>
              <a:rPr lang="en-US" sz="1400" dirty="0"/>
              <a:t> Represent the </a:t>
            </a:r>
            <a:r>
              <a:rPr lang="en-US" sz="1400" b="1" dirty="0"/>
              <a:t>Total Debit Amount</a:t>
            </a:r>
            <a:r>
              <a:rPr lang="en-US" sz="1400" dirty="0"/>
              <a:t> in millions (M) for each month.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Line (With % Labels):</a:t>
            </a:r>
            <a:r>
              <a:rPr lang="en-US" sz="1400" dirty="0"/>
              <a:t> Shows how much the Debit amount </a:t>
            </a:r>
            <a:r>
              <a:rPr lang="en-US" sz="1400" b="1" dirty="0"/>
              <a:t>increased or decreased compared to the previous month</a:t>
            </a:r>
            <a:r>
              <a:rPr lang="en-US" sz="1400" dirty="0"/>
              <a:t> (Month-over-Month change).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AD7F4-155B-789C-8215-7F3EB4B4A6F8}"/>
              </a:ext>
            </a:extLst>
          </p:cNvPr>
          <p:cNvSpPr txBox="1"/>
          <p:nvPr/>
        </p:nvSpPr>
        <p:spPr>
          <a:xfrm>
            <a:off x="63912" y="2184835"/>
            <a:ext cx="621398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🔹 Easy Explanation of the Trend: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January → February:</a:t>
            </a:r>
            <a:br>
              <a:rPr lang="en-US" sz="1200" dirty="0"/>
            </a:br>
            <a:r>
              <a:rPr lang="en-US" sz="1200" dirty="0"/>
              <a:t>Debit amount dropped sharply from </a:t>
            </a:r>
            <a:r>
              <a:rPr lang="en-US" sz="1200" b="1" dirty="0"/>
              <a:t>12.2M to 10.8M</a:t>
            </a:r>
            <a:r>
              <a:rPr lang="en-US" sz="1200" dirty="0"/>
              <a:t> → </a:t>
            </a:r>
            <a:r>
              <a:rPr lang="en-US" sz="1200" b="1" dirty="0"/>
              <a:t>-11.07% decrease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➤ Indicates lower debit activity in February.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February → March:</a:t>
            </a:r>
            <a:br>
              <a:rPr lang="en-US" sz="1200" dirty="0"/>
            </a:br>
            <a:r>
              <a:rPr lang="en-US" sz="1200" dirty="0"/>
              <a:t>Sharp recovery — debit amount rose to </a:t>
            </a:r>
            <a:r>
              <a:rPr lang="en-US" sz="1200" b="1" dirty="0"/>
              <a:t>11.6M</a:t>
            </a:r>
            <a:r>
              <a:rPr lang="en-US" sz="1200" dirty="0"/>
              <a:t> → </a:t>
            </a:r>
            <a:r>
              <a:rPr lang="en-US" sz="1200" b="1" dirty="0"/>
              <a:t>+7.44% increase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➤ Customers became more active again.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April to June:</a:t>
            </a:r>
            <a:br>
              <a:rPr lang="en-US" sz="1200" dirty="0"/>
            </a:br>
            <a:r>
              <a:rPr lang="en-US" sz="1200" dirty="0"/>
              <a:t>Debit amount remained </a:t>
            </a:r>
            <a:r>
              <a:rPr lang="en-US" sz="1200" b="1" dirty="0"/>
              <a:t>steady (around 11.6M)</a:t>
            </a:r>
            <a:r>
              <a:rPr lang="en-US" sz="1200" dirty="0"/>
              <a:t>, with </a:t>
            </a:r>
            <a:r>
              <a:rPr lang="en-US" sz="1200" b="1" dirty="0"/>
              <a:t>small changes (0.05% to -2.19%)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➤ Shows stable debit trends during mid-year.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July to October:</a:t>
            </a:r>
            <a:br>
              <a:rPr lang="en-US" sz="1200" dirty="0"/>
            </a:br>
            <a:r>
              <a:rPr lang="en-US" sz="1200" dirty="0"/>
              <a:t>Small ups and downs — </a:t>
            </a:r>
            <a:r>
              <a:rPr lang="en-US" sz="1200" b="1" dirty="0"/>
              <a:t>slight increases in July (+2.72%)</a:t>
            </a:r>
            <a:r>
              <a:rPr lang="en-US" sz="1200" dirty="0"/>
              <a:t> and </a:t>
            </a:r>
            <a:r>
              <a:rPr lang="en-US" sz="1200" b="1" dirty="0"/>
              <a:t>October (+3.33%)</a:t>
            </a:r>
            <a:r>
              <a:rPr lang="en-US" sz="1200" dirty="0"/>
              <a:t>,</a:t>
            </a:r>
            <a:br>
              <a:rPr lang="en-US" sz="1200" dirty="0"/>
            </a:br>
            <a:r>
              <a:rPr lang="en-US" sz="1200" dirty="0"/>
              <a:t>but minor drops in </a:t>
            </a:r>
            <a:r>
              <a:rPr lang="en-US" sz="1200" b="1" dirty="0"/>
              <a:t>August (-0.15%)</a:t>
            </a:r>
            <a:r>
              <a:rPr lang="en-US" sz="1200" dirty="0"/>
              <a:t> and </a:t>
            </a:r>
            <a:r>
              <a:rPr lang="en-US" sz="1200" b="1" dirty="0"/>
              <a:t>September (-2.12%)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➤ Indicates moderate activity fluctuations.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November → December:</a:t>
            </a:r>
            <a:br>
              <a:rPr lang="en-US" sz="1200" dirty="0"/>
            </a:br>
            <a:r>
              <a:rPr lang="en-US" sz="1200" dirty="0"/>
              <a:t>Noticeable </a:t>
            </a:r>
            <a:r>
              <a:rPr lang="en-US" sz="1200" b="1" dirty="0"/>
              <a:t>decline (-3.09% and -3.80%)</a:t>
            </a:r>
            <a:r>
              <a:rPr lang="en-US" sz="1200" dirty="0"/>
              <a:t>, and amount dropped to </a:t>
            </a:r>
            <a:r>
              <a:rPr lang="en-US" sz="1200" b="1" dirty="0"/>
              <a:t>just 0.4M in December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➤ Possible reason: year-end account settlements or fewer transactions.</a:t>
            </a:r>
          </a:p>
          <a:p>
            <a:endParaRPr lang="en-US" sz="1200" dirty="0"/>
          </a:p>
          <a:p>
            <a:r>
              <a:rPr lang="en-US" sz="1200" b="1" dirty="0"/>
              <a:t>🔹 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Key Insights:</a:t>
            </a:r>
          </a:p>
          <a:p>
            <a:r>
              <a:rPr lang="en-US" sz="1200" dirty="0"/>
              <a:t>✅ Debit transactions were </a:t>
            </a:r>
            <a:r>
              <a:rPr lang="en-US" sz="1200" b="1" dirty="0"/>
              <a:t>highest in January and March.</a:t>
            </a:r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Mid-year</a:t>
            </a:r>
            <a:r>
              <a:rPr lang="en-US" sz="1200" dirty="0"/>
              <a:t> remained steady without major spikes or drops.</a:t>
            </a:r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End of the year (Nov–Dec)</a:t>
            </a:r>
            <a:r>
              <a:rPr lang="en-US" sz="1200" dirty="0"/>
              <a:t> saw a </a:t>
            </a:r>
            <a:r>
              <a:rPr lang="en-US" sz="1200" b="1" dirty="0"/>
              <a:t>decline</a:t>
            </a:r>
            <a:r>
              <a:rPr lang="en-US" sz="1200" dirty="0"/>
              <a:t> in debit transactions.</a:t>
            </a:r>
            <a:br>
              <a:rPr lang="en-US" sz="1200" dirty="0"/>
            </a:br>
            <a:r>
              <a:rPr lang="en-US" sz="1200" dirty="0"/>
              <a:t>✅ Overall, debit performance was </a:t>
            </a:r>
            <a:r>
              <a:rPr lang="en-US" sz="1200" b="1" dirty="0"/>
              <a:t>stable</a:t>
            </a:r>
            <a:r>
              <a:rPr lang="en-US" sz="1200" dirty="0"/>
              <a:t> with </a:t>
            </a:r>
            <a:r>
              <a:rPr lang="en-US" sz="1200" b="1" dirty="0"/>
              <a:t>minor month-to-month variations.</a:t>
            </a:r>
            <a:endParaRPr lang="en-US" sz="1200" dirty="0"/>
          </a:p>
          <a:p>
            <a:endParaRPr lang="en-US" sz="1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5217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D9D3B-A096-EA03-D9DE-4D5D4509F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DF9502-9733-D513-6663-B4448B991DD5}"/>
              </a:ext>
            </a:extLst>
          </p:cNvPr>
          <p:cNvSpPr txBox="1"/>
          <p:nvPr/>
        </p:nvSpPr>
        <p:spPr>
          <a:xfrm>
            <a:off x="98323" y="88491"/>
            <a:ext cx="5260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5.Credit Amount Wise MoM %  Change by Month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7EEB57-9B21-A5F1-6271-A7321746C614}"/>
              </a:ext>
            </a:extLst>
          </p:cNvPr>
          <p:cNvSpPr txBox="1"/>
          <p:nvPr/>
        </p:nvSpPr>
        <p:spPr>
          <a:xfrm>
            <a:off x="98323" y="521110"/>
            <a:ext cx="621398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What This Chart Shows:</a:t>
            </a:r>
          </a:p>
          <a:p>
            <a:r>
              <a:rPr lang="en-US" sz="1400" dirty="0"/>
              <a:t>This visual compares the </a:t>
            </a:r>
            <a:r>
              <a:rPr lang="en-US" sz="1400" b="1" dirty="0"/>
              <a:t>Monthly Credit Amounts (bars)</a:t>
            </a:r>
            <a:r>
              <a:rPr lang="en-US" sz="1400" dirty="0"/>
              <a:t> with their </a:t>
            </a:r>
            <a:r>
              <a:rPr lang="en-US" sz="1400" b="1" dirty="0"/>
              <a:t>Month-over-Month (MoM) percentage change (line)</a:t>
            </a:r>
            <a:r>
              <a:rPr lang="en-US" sz="1400" dirty="0"/>
              <a:t> throughout the year.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Bars (Purple Columns):</a:t>
            </a:r>
            <a:r>
              <a:rPr lang="en-US" sz="1400" dirty="0"/>
              <a:t> Represent the </a:t>
            </a:r>
            <a:r>
              <a:rPr lang="en-US" sz="1400" b="1" dirty="0"/>
              <a:t>Total Credit Amount</a:t>
            </a:r>
            <a:r>
              <a:rPr lang="en-US" sz="1400" dirty="0"/>
              <a:t> in millions (M) for each month.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Line (With % Labels):</a:t>
            </a:r>
            <a:r>
              <a:rPr lang="en-US" sz="1400" dirty="0"/>
              <a:t> Shows how much the Credit amount </a:t>
            </a:r>
            <a:r>
              <a:rPr lang="en-US" sz="1400" b="1" dirty="0"/>
              <a:t>increased or decreased compared to the previous month</a:t>
            </a:r>
            <a:r>
              <a:rPr lang="en-US" sz="1400" dirty="0"/>
              <a:t> (Month-over-Month change).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0D9B07-A98C-D2CC-237D-30FDCCD459BD}"/>
              </a:ext>
            </a:extLst>
          </p:cNvPr>
          <p:cNvSpPr txBox="1"/>
          <p:nvPr/>
        </p:nvSpPr>
        <p:spPr>
          <a:xfrm>
            <a:off x="63912" y="2121548"/>
            <a:ext cx="621398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🔹 Step-by-Step Trend Explanation:</a:t>
            </a:r>
          </a:p>
          <a:p>
            <a:pPr>
              <a:buFont typeface="+mj-lt"/>
              <a:buAutoNum type="arabicPeriod"/>
            </a:pPr>
            <a:r>
              <a:rPr lang="en-US" sz="1100" b="1" dirty="0"/>
              <a:t>January → February:</a:t>
            </a:r>
            <a:br>
              <a:rPr lang="en-US" sz="1100" dirty="0"/>
            </a:br>
            <a:r>
              <a:rPr lang="en-US" sz="1100" dirty="0"/>
              <a:t>Credit amount </a:t>
            </a:r>
            <a:r>
              <a:rPr lang="en-US" sz="1100" b="1" dirty="0"/>
              <a:t>dropped</a:t>
            </a:r>
            <a:r>
              <a:rPr lang="en-US" sz="1100" dirty="0"/>
              <a:t> from </a:t>
            </a:r>
            <a:r>
              <a:rPr lang="en-US" sz="1100" b="1" dirty="0"/>
              <a:t>11.8M to 10.9M</a:t>
            </a:r>
            <a:r>
              <a:rPr lang="en-US" sz="1100" dirty="0"/>
              <a:t>, showing a </a:t>
            </a:r>
            <a:r>
              <a:rPr lang="en-US" sz="1100" b="1" dirty="0"/>
              <a:t>-10.40% decrease.</a:t>
            </a:r>
            <a:br>
              <a:rPr lang="en-US" sz="1100" dirty="0"/>
            </a:br>
            <a:r>
              <a:rPr lang="en-US" sz="1100" dirty="0"/>
              <a:t>➤ Indicates a fall in credit transactions at the start of the year.</a:t>
            </a:r>
          </a:p>
          <a:p>
            <a:pPr>
              <a:buFont typeface="+mj-lt"/>
              <a:buAutoNum type="arabicPeriod"/>
            </a:pPr>
            <a:r>
              <a:rPr lang="en-US" sz="1100" b="1" dirty="0"/>
              <a:t>February → March:</a:t>
            </a:r>
            <a:br>
              <a:rPr lang="en-US" sz="1100" dirty="0"/>
            </a:br>
            <a:r>
              <a:rPr lang="en-US" sz="1100" dirty="0"/>
              <a:t>Credit amount </a:t>
            </a:r>
            <a:r>
              <a:rPr lang="en-US" sz="1100" b="1" dirty="0"/>
              <a:t>rose sharply</a:t>
            </a:r>
            <a:r>
              <a:rPr lang="en-US" sz="1100" dirty="0"/>
              <a:t> to </a:t>
            </a:r>
            <a:r>
              <a:rPr lang="en-US" sz="1100" b="1" dirty="0"/>
              <a:t>11.9M</a:t>
            </a:r>
            <a:r>
              <a:rPr lang="en-US" sz="1100" dirty="0"/>
              <a:t>, a </a:t>
            </a:r>
            <a:r>
              <a:rPr lang="en-US" sz="1100" b="1" dirty="0"/>
              <a:t>+10.50% increase.</a:t>
            </a:r>
            <a:br>
              <a:rPr lang="en-US" sz="1100" dirty="0"/>
            </a:br>
            <a:r>
              <a:rPr lang="en-US" sz="1100" dirty="0"/>
              <a:t>➤ Customers became more active in credit usage again.</a:t>
            </a:r>
          </a:p>
          <a:p>
            <a:pPr>
              <a:buFont typeface="+mj-lt"/>
              <a:buAutoNum type="arabicPeriod"/>
            </a:pPr>
            <a:r>
              <a:rPr lang="en-US" sz="1100" b="1" dirty="0"/>
              <a:t>April → May:</a:t>
            </a:r>
            <a:br>
              <a:rPr lang="en-US" sz="1100" dirty="0"/>
            </a:br>
            <a:r>
              <a:rPr lang="en-US" sz="1100" dirty="0"/>
              <a:t>A </a:t>
            </a:r>
            <a:r>
              <a:rPr lang="en-US" sz="1100" b="1" dirty="0"/>
              <a:t>small decline of -4.37%</a:t>
            </a:r>
            <a:r>
              <a:rPr lang="en-US" sz="1100" dirty="0"/>
              <a:t>, but amount remained around </a:t>
            </a:r>
            <a:r>
              <a:rPr lang="en-US" sz="1100" b="1" dirty="0"/>
              <a:t>11.1M</a:t>
            </a:r>
            <a:r>
              <a:rPr lang="en-US" sz="1100" dirty="0"/>
              <a:t>, showing minor fluctuation.</a:t>
            </a:r>
          </a:p>
          <a:p>
            <a:pPr>
              <a:buFont typeface="+mj-lt"/>
              <a:buAutoNum type="arabicPeriod"/>
            </a:pPr>
            <a:r>
              <a:rPr lang="en-US" sz="1100" b="1" dirty="0"/>
              <a:t>May → July:</a:t>
            </a:r>
            <a:endParaRPr lang="en-US" sz="1100" dirty="0"/>
          </a:p>
          <a:p>
            <a:pPr marL="742950" lvl="1" indent="-285750">
              <a:buFont typeface="+mj-lt"/>
              <a:buAutoNum type="arabicPeriod"/>
            </a:pPr>
            <a:r>
              <a:rPr lang="en-US" sz="1100" b="1" dirty="0"/>
              <a:t>June:</a:t>
            </a:r>
            <a:r>
              <a:rPr lang="en-US" sz="1100" dirty="0"/>
              <a:t> Slight fall of </a:t>
            </a:r>
            <a:r>
              <a:rPr lang="en-US" sz="1100" b="1" dirty="0"/>
              <a:t>-1.55%</a:t>
            </a:r>
            <a:endParaRPr lang="en-US" sz="1100" dirty="0"/>
          </a:p>
          <a:p>
            <a:pPr marL="742950" lvl="1" indent="-285750">
              <a:buFont typeface="+mj-lt"/>
              <a:buAutoNum type="arabicPeriod"/>
            </a:pPr>
            <a:r>
              <a:rPr lang="en-US" sz="1100" b="1" dirty="0"/>
              <a:t>July:</a:t>
            </a:r>
            <a:r>
              <a:rPr lang="en-US" sz="1100" dirty="0"/>
              <a:t> Strong recovery with </a:t>
            </a:r>
            <a:r>
              <a:rPr lang="en-US" sz="1100" b="1" dirty="0"/>
              <a:t>+4.65% growth</a:t>
            </a:r>
            <a:br>
              <a:rPr lang="en-US" sz="1100" dirty="0"/>
            </a:br>
            <a:r>
              <a:rPr lang="en-US" sz="1100" dirty="0"/>
              <a:t>➤ Indicates moderate recovery in mid-year.</a:t>
            </a:r>
          </a:p>
          <a:p>
            <a:pPr>
              <a:buFont typeface="+mj-lt"/>
              <a:buAutoNum type="arabicPeriod"/>
            </a:pPr>
            <a:r>
              <a:rPr lang="en-US" sz="1100" b="1" dirty="0"/>
              <a:t>August → September:</a:t>
            </a:r>
            <a:br>
              <a:rPr lang="en-US" sz="1100" dirty="0"/>
            </a:br>
            <a:r>
              <a:rPr lang="en-US" sz="1100" dirty="0"/>
              <a:t>Slight decline again (</a:t>
            </a:r>
            <a:r>
              <a:rPr lang="en-US" sz="1100" b="1" dirty="0"/>
              <a:t>-2.06% to -2.18%</a:t>
            </a:r>
            <a:r>
              <a:rPr lang="en-US" sz="1100" dirty="0"/>
              <a:t>) → showing stability with small drops.</a:t>
            </a:r>
          </a:p>
          <a:p>
            <a:pPr>
              <a:buFont typeface="+mj-lt"/>
              <a:buAutoNum type="arabicPeriod"/>
            </a:pPr>
            <a:r>
              <a:rPr lang="en-US" sz="1100" b="1" dirty="0"/>
              <a:t>October:</a:t>
            </a:r>
            <a:br>
              <a:rPr lang="en-US" sz="1100" dirty="0"/>
            </a:br>
            <a:r>
              <a:rPr lang="en-US" sz="1100" dirty="0"/>
              <a:t>Positive growth of </a:t>
            </a:r>
            <a:r>
              <a:rPr lang="en-US" sz="1100" b="1" dirty="0"/>
              <a:t>+5.39%</a:t>
            </a:r>
            <a:r>
              <a:rPr lang="en-US" sz="1100" dirty="0"/>
              <a:t>, reaching around </a:t>
            </a:r>
            <a:r>
              <a:rPr lang="en-US" sz="1100" b="1" dirty="0"/>
              <a:t>12.0M</a:t>
            </a:r>
            <a:r>
              <a:rPr lang="en-US" sz="1100" dirty="0"/>
              <a:t>, the </a:t>
            </a:r>
            <a:r>
              <a:rPr lang="en-US" sz="1100" b="1" dirty="0"/>
              <a:t>second-highest value</a:t>
            </a:r>
            <a:r>
              <a:rPr lang="en-US" sz="1100" dirty="0"/>
              <a:t> of the year.</a:t>
            </a:r>
          </a:p>
          <a:p>
            <a:pPr>
              <a:buFont typeface="+mj-lt"/>
              <a:buAutoNum type="arabicPeriod"/>
            </a:pPr>
            <a:r>
              <a:rPr lang="en-US" sz="1100" b="1" dirty="0"/>
              <a:t>November → December:</a:t>
            </a:r>
            <a:endParaRPr lang="en-US" sz="1100" dirty="0"/>
          </a:p>
          <a:p>
            <a:pPr marL="742950" lvl="1" indent="-285750">
              <a:buFont typeface="+mj-lt"/>
              <a:buAutoNum type="arabicPeriod"/>
            </a:pPr>
            <a:r>
              <a:rPr lang="en-US" sz="1100" b="1" dirty="0"/>
              <a:t>November:</a:t>
            </a:r>
            <a:r>
              <a:rPr lang="en-US" sz="1100" dirty="0"/>
              <a:t> Drop of </a:t>
            </a:r>
            <a:r>
              <a:rPr lang="en-US" sz="1100" b="1" dirty="0"/>
              <a:t>-4.29%</a:t>
            </a:r>
            <a:endParaRPr lang="en-US" sz="1100" dirty="0"/>
          </a:p>
          <a:p>
            <a:pPr marL="742950" lvl="1" indent="-285750">
              <a:buFont typeface="+mj-lt"/>
              <a:buAutoNum type="arabicPeriod"/>
            </a:pPr>
            <a:r>
              <a:rPr lang="en-US" sz="1100" b="1" dirty="0"/>
              <a:t>December:</a:t>
            </a:r>
            <a:r>
              <a:rPr lang="en-US" sz="1100" dirty="0"/>
              <a:t> Sharp </a:t>
            </a:r>
            <a:r>
              <a:rPr lang="en-US" sz="1100" b="1" dirty="0"/>
              <a:t>increase of +10.95%</a:t>
            </a:r>
            <a:r>
              <a:rPr lang="en-US" sz="1100" dirty="0"/>
              <a:t>, closing the year strongly.</a:t>
            </a:r>
            <a:br>
              <a:rPr lang="en-US" sz="1100" dirty="0"/>
            </a:br>
            <a:r>
              <a:rPr lang="en-US" sz="1100" dirty="0"/>
              <a:t>➤ Indicates an end-of-year rise in credit activity (possibly festive or bonus-related).</a:t>
            </a:r>
          </a:p>
          <a:p>
            <a:pPr lvl="1"/>
            <a:endParaRPr lang="en-US" sz="1100" dirty="0"/>
          </a:p>
          <a:p>
            <a:r>
              <a:rPr lang="en-US" sz="1200" b="1" dirty="0"/>
              <a:t>🔹 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Key Insights:</a:t>
            </a:r>
          </a:p>
          <a:p>
            <a:r>
              <a:rPr lang="en-US" sz="1200" dirty="0"/>
              <a:t>✅ </a:t>
            </a:r>
            <a:r>
              <a:rPr lang="en-US" sz="1200" b="1" dirty="0"/>
              <a:t>Highest growth months:</a:t>
            </a:r>
            <a:r>
              <a:rPr lang="en-US" sz="1200" dirty="0"/>
              <a:t> </a:t>
            </a:r>
            <a:r>
              <a:rPr lang="en-US" sz="1200" b="1" dirty="0"/>
              <a:t>March (+10.5%)</a:t>
            </a:r>
            <a:r>
              <a:rPr lang="en-US" sz="1200" dirty="0"/>
              <a:t> and </a:t>
            </a:r>
            <a:r>
              <a:rPr lang="en-US" sz="1200" b="1" dirty="0"/>
              <a:t>December (+10.95%)</a:t>
            </a:r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Lowest performance:</a:t>
            </a:r>
            <a:r>
              <a:rPr lang="en-US" sz="1200" dirty="0"/>
              <a:t> </a:t>
            </a:r>
            <a:r>
              <a:rPr lang="en-US" sz="1200" b="1" dirty="0"/>
              <a:t>February (-10.40%)</a:t>
            </a:r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Mid-year (May–September):</a:t>
            </a:r>
            <a:r>
              <a:rPr lang="en-US" sz="1200" dirty="0"/>
              <a:t> Mostly stable with small variations.</a:t>
            </a:r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Overall:</a:t>
            </a:r>
            <a:r>
              <a:rPr lang="en-US" sz="1200" dirty="0"/>
              <a:t> The year ended positively, showing </a:t>
            </a:r>
            <a:r>
              <a:rPr lang="en-US" sz="1200" b="1" dirty="0"/>
              <a:t>recovery and increased credit activity</a:t>
            </a:r>
            <a:r>
              <a:rPr lang="en-US" sz="1200" dirty="0"/>
              <a:t>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45DE3D-2144-DD70-58A9-F2E9A9656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310" y="120682"/>
            <a:ext cx="5781367" cy="414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61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B88E25-D398-B3A5-978E-6A574E2B2006}"/>
              </a:ext>
            </a:extLst>
          </p:cNvPr>
          <p:cNvSpPr txBox="1"/>
          <p:nvPr/>
        </p:nvSpPr>
        <p:spPr>
          <a:xfrm>
            <a:off x="265471" y="727755"/>
            <a:ext cx="8096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Conclusion</a:t>
            </a:r>
            <a:endParaRPr lang="en-IN" sz="3600" b="1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F894F-09B2-468B-50F8-26F9D9A97750}"/>
              </a:ext>
            </a:extLst>
          </p:cNvPr>
          <p:cNvSpPr txBox="1"/>
          <p:nvPr/>
        </p:nvSpPr>
        <p:spPr>
          <a:xfrm>
            <a:off x="265471" y="1478662"/>
            <a:ext cx="106827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Both</a:t>
            </a:r>
            <a:r>
              <a:rPr lang="en-US" sz="2000" dirty="0"/>
              <a:t> </a:t>
            </a:r>
            <a:r>
              <a:rPr lang="en-US" sz="2000" b="1" dirty="0">
                <a:latin typeface="Comic Sans MS" panose="030F0702030302020204" pitchFamily="66" charset="0"/>
              </a:rPr>
              <a:t>Credit and Debit values are nearly equal</a:t>
            </a:r>
            <a:r>
              <a:rPr lang="en-US" sz="2000" dirty="0">
                <a:latin typeface="Comic Sans MS" panose="030F0702030302020204" pitchFamily="66" charset="0"/>
              </a:rPr>
              <a:t>, showing stable financial performance.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The Bank is a High-Volume Transfer Service with No-Saving Growth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So we need to Focus on Converting those Customers who get their Salary (Credit) and then Spend it all (Debit) into Savers.</a:t>
            </a:r>
            <a:endParaRPr lang="en-IN" sz="2000" dirty="0"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E304AD-3D0C-B9E8-683E-DB46DFAE188C}"/>
              </a:ext>
            </a:extLst>
          </p:cNvPr>
          <p:cNvSpPr txBox="1"/>
          <p:nvPr/>
        </p:nvSpPr>
        <p:spPr>
          <a:xfrm>
            <a:off x="265471" y="30691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Recommendation</a:t>
            </a:r>
            <a:endParaRPr lang="en-IN" sz="3600" b="1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99406C-6F8F-8F62-21DC-5DEA26DD1FE8}"/>
              </a:ext>
            </a:extLst>
          </p:cNvPr>
          <p:cNvSpPr txBox="1"/>
          <p:nvPr/>
        </p:nvSpPr>
        <p:spPr>
          <a:xfrm>
            <a:off x="265471" y="3982464"/>
            <a:ext cx="106827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Encourage customers to use </a:t>
            </a:r>
            <a:r>
              <a:rPr lang="en-US" sz="2000" b="1" dirty="0">
                <a:latin typeface="Comic Sans MS" panose="030F0702030302020204" pitchFamily="66" charset="0"/>
              </a:rPr>
              <a:t>digital transactions</a:t>
            </a:r>
            <a:r>
              <a:rPr lang="en-US" sz="2000" dirty="0">
                <a:latin typeface="Comic Sans MS" panose="030F0702030302020204" pitchFamily="66" charset="0"/>
              </a:rPr>
              <a:t> to improve the activity ratio.</a:t>
            </a:r>
            <a:br>
              <a:rPr lang="en-US" sz="2000" dirty="0">
                <a:latin typeface="Comic Sans MS" panose="030F0702030302020204" pitchFamily="66" charset="0"/>
              </a:rPr>
            </a:br>
            <a:r>
              <a:rPr lang="en-US" sz="2000" dirty="0">
                <a:latin typeface="Comic Sans MS" panose="030F0702030302020204" pitchFamily="66" charset="0"/>
              </a:rPr>
              <a:t>Focus on promoting </a:t>
            </a:r>
            <a:r>
              <a:rPr lang="en-US" sz="2000" b="1" dirty="0">
                <a:latin typeface="Comic Sans MS" panose="030F0702030302020204" pitchFamily="66" charset="0"/>
              </a:rPr>
              <a:t>debit and credit card rewards</a:t>
            </a:r>
            <a:r>
              <a:rPr lang="en-US" sz="2000" dirty="0">
                <a:latin typeface="Comic Sans MS" panose="030F0702030302020204" pitchFamily="66" charset="0"/>
              </a:rPr>
              <a:t> to enhance usage frequency.</a:t>
            </a:r>
            <a:br>
              <a:rPr lang="en-US" sz="2000" dirty="0">
                <a:latin typeface="Comic Sans MS" panose="030F0702030302020204" pitchFamily="66" charset="0"/>
              </a:rPr>
            </a:br>
            <a:r>
              <a:rPr lang="en-US" sz="2000" dirty="0">
                <a:latin typeface="Comic Sans MS" panose="030F0702030302020204" pitchFamily="66" charset="0"/>
              </a:rPr>
              <a:t>Monitor </a:t>
            </a:r>
            <a:r>
              <a:rPr lang="en-US" sz="2000" b="1" dirty="0">
                <a:latin typeface="Comic Sans MS" panose="030F0702030302020204" pitchFamily="66" charset="0"/>
              </a:rPr>
              <a:t>branches with low performance</a:t>
            </a:r>
            <a:r>
              <a:rPr lang="en-US" sz="2000" dirty="0">
                <a:latin typeface="Comic Sans MS" panose="030F0702030302020204" pitchFamily="66" charset="0"/>
              </a:rPr>
              <a:t> and plan targeted marketing campaigns.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We have to Offer New-High-Interest Saving or Fixed Deposits Accounts to Convince         the Customers to Leave the Money in the Bank Instead of Transferring it Out.</a:t>
            </a:r>
            <a:endParaRPr lang="en-IN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842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EBB6AD-F259-4C45-065C-0B9EAD8457B7}"/>
              </a:ext>
            </a:extLst>
          </p:cNvPr>
          <p:cNvSpPr txBox="1"/>
          <p:nvPr/>
        </p:nvSpPr>
        <p:spPr>
          <a:xfrm>
            <a:off x="383456" y="775270"/>
            <a:ext cx="108449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Project</a:t>
            </a:r>
            <a:r>
              <a:rPr lang="en-IN" sz="36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:</a:t>
            </a:r>
            <a:r>
              <a:rPr lang="en-IN" sz="3600" b="1" dirty="0"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n-IN" sz="40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Bank Loan Dashboard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866E7-E0A8-995F-5CA4-0663D8F280EA}"/>
              </a:ext>
            </a:extLst>
          </p:cNvPr>
          <p:cNvSpPr txBox="1"/>
          <p:nvPr/>
        </p:nvSpPr>
        <p:spPr>
          <a:xfrm>
            <a:off x="383457" y="166782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Project Goal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F92758-32EC-DCDE-1A80-017AED54A6C6}"/>
              </a:ext>
            </a:extLst>
          </p:cNvPr>
          <p:cNvSpPr txBox="1"/>
          <p:nvPr/>
        </p:nvSpPr>
        <p:spPr>
          <a:xfrm>
            <a:off x="383457" y="2375707"/>
            <a:ext cx="86425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To Analyze and Track bank Loan Performance, Collections, and Customer Insights for Better Financial Decision-Making.</a:t>
            </a:r>
            <a:endParaRPr lang="en-IN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875B2F-3E5F-D9EF-64E1-636EF0A0B629}"/>
              </a:ext>
            </a:extLst>
          </p:cNvPr>
          <p:cNvSpPr txBox="1"/>
          <p:nvPr/>
        </p:nvSpPr>
        <p:spPr>
          <a:xfrm>
            <a:off x="383457" y="3945367"/>
            <a:ext cx="68334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910651-6621-6F81-EC5C-AE68646B0161}"/>
              </a:ext>
            </a:extLst>
          </p:cNvPr>
          <p:cNvSpPr txBox="1"/>
          <p:nvPr/>
        </p:nvSpPr>
        <p:spPr>
          <a:xfrm>
            <a:off x="383456" y="4653253"/>
            <a:ext cx="82394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This Dashboard provides a Monthly and Yearly View of Loan-Funded Amounts, Collection Trends, Customer Preferences, and Loan Performance across different states and categories.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6965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33520F-9A4A-B271-77D8-1B8E609CB439}"/>
              </a:ext>
            </a:extLst>
          </p:cNvPr>
          <p:cNvSpPr txBox="1"/>
          <p:nvPr/>
        </p:nvSpPr>
        <p:spPr>
          <a:xfrm>
            <a:off x="481780" y="3069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Dataset Description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8C962-19B5-7EEF-41E0-3667EAE6EA52}"/>
              </a:ext>
            </a:extLst>
          </p:cNvPr>
          <p:cNvSpPr txBox="1"/>
          <p:nvPr/>
        </p:nvSpPr>
        <p:spPr>
          <a:xfrm>
            <a:off x="481780" y="953278"/>
            <a:ext cx="7452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Data Source:</a:t>
            </a:r>
            <a:br>
              <a:rPr lang="en-US" sz="18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800" dirty="0"/>
              <a:t>Bank </a:t>
            </a:r>
            <a:r>
              <a:rPr lang="en-US" dirty="0"/>
              <a:t>Loan Dashboard</a:t>
            </a:r>
            <a:r>
              <a:rPr lang="en-US" sz="1800" dirty="0"/>
              <a:t>.</a:t>
            </a:r>
            <a:endParaRPr lang="en-IN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A732B9-8BD4-B7EA-4640-A6AE00A09D21}"/>
              </a:ext>
            </a:extLst>
          </p:cNvPr>
          <p:cNvSpPr txBox="1"/>
          <p:nvPr/>
        </p:nvSpPr>
        <p:spPr>
          <a:xfrm>
            <a:off x="481779" y="1599609"/>
            <a:ext cx="957662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Data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Cleaning 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: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dirty="0"/>
              <a:t>First I have get Raw Dataset and Cleaning Process is done in Excel </a:t>
            </a:r>
          </a:p>
          <a:p>
            <a:pPr marL="342900" indent="-342900">
              <a:buAutoNum type="arabicPeriod"/>
            </a:pPr>
            <a:r>
              <a:rPr lang="en-US" dirty="0"/>
              <a:t>So in Cleaning Process I have get Almost Clean Data so In This Data  I have check there is No Duplicate Value or Null Value is there and some Blank value is there in this Data so I Have Removed it.</a:t>
            </a:r>
          </a:p>
          <a:p>
            <a:pPr marL="342900" indent="-342900">
              <a:buAutoNum type="arabicPeriod"/>
            </a:pPr>
            <a:r>
              <a:rPr lang="en-US" dirty="0"/>
              <a:t>Then I have converted this  this Excel File into CSV File.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910108-77D1-DD43-C88D-AE25AF850060}"/>
              </a:ext>
            </a:extLst>
          </p:cNvPr>
          <p:cNvSpPr txBox="1"/>
          <p:nvPr/>
        </p:nvSpPr>
        <p:spPr>
          <a:xfrm>
            <a:off x="481778" y="332765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SQL:</a:t>
            </a:r>
          </a:p>
          <a:p>
            <a:pPr marL="342900" indent="-342900">
              <a:buAutoNum type="arabicPeriod"/>
            </a:pPr>
            <a:r>
              <a:rPr lang="en-US" dirty="0"/>
              <a:t>I have Import this CSV File in SQL WORKBENCH in SQL WORKBENCH I Have Performed KPI in that I have write a Syntax to see the Values of that KPI.</a:t>
            </a:r>
          </a:p>
          <a:p>
            <a:pPr marL="342900" indent="-342900">
              <a:buAutoNum type="arabicPeriod"/>
            </a:pPr>
            <a:r>
              <a:rPr lang="en-US" dirty="0"/>
              <a:t>KPI I have Performed in SQL Workbench</a:t>
            </a:r>
          </a:p>
          <a:p>
            <a:r>
              <a:rPr lang="en-US" dirty="0"/>
              <a:t>        </a:t>
            </a:r>
            <a:r>
              <a:rPr lang="en-IN" b="1" dirty="0"/>
              <a:t>.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 Total Loan Funded Amount</a:t>
            </a:r>
          </a:p>
          <a:p>
            <a:r>
              <a:rPr lang="en-US" dirty="0"/>
              <a:t>        </a:t>
            </a:r>
            <a:r>
              <a:rPr lang="en-IN" b="1" dirty="0"/>
              <a:t>.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Total Collection Amount</a:t>
            </a:r>
          </a:p>
          <a:p>
            <a:r>
              <a:rPr lang="en-US" dirty="0"/>
              <a:t>        </a:t>
            </a:r>
            <a:r>
              <a:rPr lang="en-IN" b="1" dirty="0"/>
              <a:t>.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Total Interest Value</a:t>
            </a:r>
          </a:p>
          <a:p>
            <a:r>
              <a:rPr lang="en-US" dirty="0"/>
              <a:t>        </a:t>
            </a:r>
            <a:r>
              <a:rPr lang="en-IN" b="1" dirty="0"/>
              <a:t>.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Total Loans</a:t>
            </a:r>
          </a:p>
        </p:txBody>
      </p:sp>
    </p:spTree>
    <p:extLst>
      <p:ext uri="{BB962C8B-B14F-4D97-AF65-F5344CB8AC3E}">
        <p14:creationId xmlns:p14="http://schemas.microsoft.com/office/powerpoint/2010/main" val="4134274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46E1BB-92CF-6302-AF17-AFC4E24C30C3}"/>
              </a:ext>
            </a:extLst>
          </p:cNvPr>
          <p:cNvSpPr txBox="1"/>
          <p:nvPr/>
        </p:nvSpPr>
        <p:spPr>
          <a:xfrm>
            <a:off x="235974" y="282160"/>
            <a:ext cx="83770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Key Performance Indicators (KPIs)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9E5526-F17F-8F07-990B-57DB41322085}"/>
              </a:ext>
            </a:extLst>
          </p:cNvPr>
          <p:cNvSpPr txBox="1"/>
          <p:nvPr/>
        </p:nvSpPr>
        <p:spPr>
          <a:xfrm>
            <a:off x="235974" y="8669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1. Total Loan Funded Amount: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₹733M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3031B2-B035-DB47-00A9-1B30AF096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986" y="866935"/>
            <a:ext cx="1996613" cy="10156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D26041-6FAB-06AA-D4CF-70C5D946992C}"/>
              </a:ext>
            </a:extLst>
          </p:cNvPr>
          <p:cNvSpPr txBox="1"/>
          <p:nvPr/>
        </p:nvSpPr>
        <p:spPr>
          <a:xfrm>
            <a:off x="471948" y="123626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in this KPI is telling Bank has issued a Large Amount of Money in Loan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₹ 733M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015868-134E-1199-CD9D-246D34CFEA1E}"/>
              </a:ext>
            </a:extLst>
          </p:cNvPr>
          <p:cNvSpPr txBox="1"/>
          <p:nvPr/>
        </p:nvSpPr>
        <p:spPr>
          <a:xfrm>
            <a:off x="235974" y="20252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2. Total Collection Amount: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₹815M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670CB2-973A-15BD-28E2-B04A331F2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986" y="2163856"/>
            <a:ext cx="1996613" cy="98388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8BA57E0-BFDD-FDF0-E4E3-14BDE0D999CB}"/>
              </a:ext>
            </a:extLst>
          </p:cNvPr>
          <p:cNvSpPr txBox="1"/>
          <p:nvPr/>
        </p:nvSpPr>
        <p:spPr>
          <a:xfrm>
            <a:off x="471948" y="239460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So, this is a Good Sign from this KPI The Bank is Collected a Little More Money than the Loan Amount Funded. So, the Total Collection Amount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₹815M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465ADE-1113-CBEE-530D-025FC91EA882}"/>
              </a:ext>
            </a:extLst>
          </p:cNvPr>
          <p:cNvSpPr txBox="1"/>
          <p:nvPr/>
        </p:nvSpPr>
        <p:spPr>
          <a:xfrm>
            <a:off x="235974" y="34340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3. Total Interest Value: ₹7.88K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9CA0920-29EA-B992-F973-1E220BAC7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987" y="3428999"/>
            <a:ext cx="1996612" cy="9838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6B76726-4452-5652-F425-1E74EA12B30A}"/>
              </a:ext>
            </a:extLst>
          </p:cNvPr>
          <p:cNvSpPr txBox="1"/>
          <p:nvPr/>
        </p:nvSpPr>
        <p:spPr>
          <a:xfrm>
            <a:off x="471948" y="38033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 Total Interest Fees Bank is getting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₹7.88K</a:t>
            </a:r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5C78C19-EB1F-F76C-09F5-6E27A6B63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6988" y="4694142"/>
            <a:ext cx="1996611" cy="98388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F8E8A70-C4A5-DA65-026D-5D3F2FC2B18A}"/>
              </a:ext>
            </a:extLst>
          </p:cNvPr>
          <p:cNvSpPr txBox="1"/>
          <p:nvPr/>
        </p:nvSpPr>
        <p:spPr>
          <a:xfrm>
            <a:off x="235974" y="46581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4. Total Loans: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₹66K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2DC306-BF25-6320-3803-DD25BF12C668}"/>
              </a:ext>
            </a:extLst>
          </p:cNvPr>
          <p:cNvSpPr txBox="1"/>
          <p:nvPr/>
        </p:nvSpPr>
        <p:spPr>
          <a:xfrm>
            <a:off x="471948" y="502750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KPI is Indicates that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66K</a:t>
            </a:r>
            <a:r>
              <a:rPr lang="en-US" dirty="0"/>
              <a:t> Issued Customer they have taken a Loan From Bank.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1350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6049B0-21DF-C7BF-48A0-84C82CA98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F35AC9-EAAA-036A-302B-E6C2B72EC851}"/>
              </a:ext>
            </a:extLst>
          </p:cNvPr>
          <p:cNvSpPr txBox="1"/>
          <p:nvPr/>
        </p:nvSpPr>
        <p:spPr>
          <a:xfrm>
            <a:off x="-1" y="0"/>
            <a:ext cx="5810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Dashboard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8F6B8-F6C0-BEE1-DF84-A9376F2F9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573118"/>
            <a:ext cx="12015019" cy="620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68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F9A3A-8D8A-54B7-DA1F-58E160561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8E26DA-ECE0-7A1C-D517-D77FE28FA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93" y="511278"/>
            <a:ext cx="11921613" cy="623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952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656A5-C2EC-9B1C-BC04-8C2BE3052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7C9209-981C-4890-0B04-E2CBE8E33F67}"/>
              </a:ext>
            </a:extLst>
          </p:cNvPr>
          <p:cNvSpPr txBox="1"/>
          <p:nvPr/>
        </p:nvSpPr>
        <p:spPr>
          <a:xfrm>
            <a:off x="0" y="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Visual Insights: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2B49D-0A0D-4024-3E11-6A58A43CC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8" y="584775"/>
            <a:ext cx="4144119" cy="2771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33B003-6AE2-7977-62D9-AFB3F753C267}"/>
              </a:ext>
            </a:extLst>
          </p:cNvPr>
          <p:cNvSpPr txBox="1"/>
          <p:nvPr/>
        </p:nvSpPr>
        <p:spPr>
          <a:xfrm>
            <a:off x="113248" y="3429000"/>
            <a:ext cx="44882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Age – Wise Loan Funded Amount Distributed </a:t>
            </a:r>
            <a:endParaRPr lang="en-IN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FF61E1-E2F6-B078-B4B0-13389FDFFA7D}"/>
              </a:ext>
            </a:extLst>
          </p:cNvPr>
          <p:cNvSpPr txBox="1"/>
          <p:nvPr/>
        </p:nvSpPr>
        <p:spPr>
          <a:xfrm>
            <a:off x="113248" y="3839829"/>
            <a:ext cx="44882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</a:t>
            </a:r>
            <a:r>
              <a:rPr lang="en-US" b="1" dirty="0"/>
              <a:t>Pie Chart </a:t>
            </a:r>
            <a:r>
              <a:rPr lang="en-US" dirty="0"/>
              <a:t>Highlights that Loan Amount Distributed Across Different Age Groups, helping to identify which age Segments Contribute Most to Lending Activity.</a:t>
            </a:r>
          </a:p>
          <a:p>
            <a:endParaRPr lang="en-US" dirty="0"/>
          </a:p>
          <a:p>
            <a:r>
              <a:rPr lang="en-US" b="1" dirty="0"/>
              <a:t>Pie Chart:</a:t>
            </a:r>
            <a:r>
              <a:rPr lang="en-US" dirty="0"/>
              <a:t> Shows Highest loan funded in age group </a:t>
            </a:r>
            <a:r>
              <a:rPr lang="en-US" b="1" dirty="0"/>
              <a:t>26–35 years (34.78%)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249BFA-A642-D52F-B6F8-F6629C155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277" y="584775"/>
            <a:ext cx="3529782" cy="27719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13D640-CD83-CD66-50B7-303555C34281}"/>
              </a:ext>
            </a:extLst>
          </p:cNvPr>
          <p:cNvSpPr txBox="1"/>
          <p:nvPr/>
        </p:nvSpPr>
        <p:spPr>
          <a:xfrm>
            <a:off x="4778478" y="3429000"/>
            <a:ext cx="33895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2. Term Wise Customers</a:t>
            </a:r>
            <a:endParaRPr lang="en-IN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26D78C-839D-B133-8B23-27C329F9DD01}"/>
              </a:ext>
            </a:extLst>
          </p:cNvPr>
          <p:cNvSpPr txBox="1"/>
          <p:nvPr/>
        </p:nvSpPr>
        <p:spPr>
          <a:xfrm>
            <a:off x="4778477" y="3767554"/>
            <a:ext cx="36084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</a:t>
            </a:r>
            <a:r>
              <a:rPr lang="en-US" b="1" dirty="0"/>
              <a:t>Pie Chart Analyze </a:t>
            </a:r>
            <a:r>
              <a:rPr lang="en-US" dirty="0"/>
              <a:t>Customer Preference's for Short – term Versus Long Term Loan.</a:t>
            </a:r>
          </a:p>
          <a:p>
            <a:endParaRPr lang="en-US" dirty="0"/>
          </a:p>
          <a:p>
            <a:r>
              <a:rPr lang="en-US" b="1" dirty="0"/>
              <a:t>Pie Chart:</a:t>
            </a:r>
            <a:r>
              <a:rPr lang="en-US" dirty="0"/>
              <a:t> Shows Highest Most customers prefer </a:t>
            </a:r>
            <a:r>
              <a:rPr lang="en-US" b="1" dirty="0"/>
              <a:t>36 months (59%)</a:t>
            </a:r>
            <a:r>
              <a:rPr lang="en-US" dirty="0"/>
              <a:t> loan term.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D02985F-1FFE-8EA9-ED17-0670C7AC8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8970" y="584774"/>
            <a:ext cx="3529782" cy="27719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54FD594-B5F4-3500-81E0-D68CB6EA33EF}"/>
              </a:ext>
            </a:extLst>
          </p:cNvPr>
          <p:cNvSpPr txBox="1"/>
          <p:nvPr/>
        </p:nvSpPr>
        <p:spPr>
          <a:xfrm>
            <a:off x="8548970" y="3429000"/>
            <a:ext cx="3608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3. Active Client VS Close Client</a:t>
            </a:r>
            <a:endParaRPr lang="en-IN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BC9718-E8A0-2E01-957A-C87B47888300}"/>
              </a:ext>
            </a:extLst>
          </p:cNvPr>
          <p:cNvSpPr txBox="1"/>
          <p:nvPr/>
        </p:nvSpPr>
        <p:spPr>
          <a:xfrm>
            <a:off x="8548968" y="3782635"/>
            <a:ext cx="35297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</a:t>
            </a:r>
            <a:r>
              <a:rPr lang="en-US" b="1" dirty="0"/>
              <a:t>Pie Chart </a:t>
            </a:r>
            <a:r>
              <a:rPr lang="en-US" dirty="0"/>
              <a:t>show in each States wise Active Client and Close Client.</a:t>
            </a:r>
          </a:p>
          <a:p>
            <a:endParaRPr lang="en-US" dirty="0"/>
          </a:p>
          <a:p>
            <a:r>
              <a:rPr lang="en-US" b="1" dirty="0"/>
              <a:t>Pie Chart:</a:t>
            </a:r>
            <a:r>
              <a:rPr lang="en-US" dirty="0"/>
              <a:t> Shows Highest </a:t>
            </a:r>
            <a:r>
              <a:rPr lang="en-IN" b="1" dirty="0"/>
              <a:t>Active Loans:</a:t>
            </a:r>
            <a:r>
              <a:rPr lang="en-IN" dirty="0"/>
              <a:t> 401.91M (Highest).</a:t>
            </a:r>
          </a:p>
        </p:txBody>
      </p:sp>
    </p:spTree>
    <p:extLst>
      <p:ext uri="{BB962C8B-B14F-4D97-AF65-F5344CB8AC3E}">
        <p14:creationId xmlns:p14="http://schemas.microsoft.com/office/powerpoint/2010/main" val="887276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04363-7CC8-37B0-3B6E-1DD6FC450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0DC110-DFB7-9A6E-4B92-30CAB1A67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" y="717756"/>
            <a:ext cx="5214887" cy="2789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91AD53-E602-F064-EF08-F3FF6F6FE5CF}"/>
              </a:ext>
            </a:extLst>
          </p:cNvPr>
          <p:cNvSpPr txBox="1"/>
          <p:nvPr/>
        </p:nvSpPr>
        <p:spPr>
          <a:xfrm>
            <a:off x="98322" y="4138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Visual Insights: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73CE3C-7B7E-598A-A0E8-E08A4E9DD813}"/>
              </a:ext>
            </a:extLst>
          </p:cNvPr>
          <p:cNvSpPr txBox="1"/>
          <p:nvPr/>
        </p:nvSpPr>
        <p:spPr>
          <a:xfrm>
            <a:off x="98322" y="3699232"/>
            <a:ext cx="3411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Loan Closure Overtime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B5588-31FA-EBA8-6615-00587FBF926C}"/>
              </a:ext>
            </a:extLst>
          </p:cNvPr>
          <p:cNvSpPr txBox="1"/>
          <p:nvPr/>
        </p:nvSpPr>
        <p:spPr>
          <a:xfrm>
            <a:off x="98322" y="4325041"/>
            <a:ext cx="4896465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</a:t>
            </a:r>
            <a:r>
              <a:rPr lang="en-US" sz="2400" b="1" dirty="0"/>
              <a:t>Line Chart </a:t>
            </a:r>
            <a:r>
              <a:rPr lang="en-US" sz="2400" dirty="0"/>
              <a:t>Represents the Number or Value of Loan Closed During Specific Time Periods helping to Track Repayments trends and Borrower Behavior Overtime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08D057-70F0-1D5C-C7D0-9DC841750385}"/>
              </a:ext>
            </a:extLst>
          </p:cNvPr>
          <p:cNvSpPr txBox="1"/>
          <p:nvPr/>
        </p:nvSpPr>
        <p:spPr>
          <a:xfrm>
            <a:off x="6774427" y="3698522"/>
            <a:ext cx="541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Total Loan Amount Funded by Purpose Category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888AD4-2DDE-FDED-AFCC-0C7039883172}"/>
              </a:ext>
            </a:extLst>
          </p:cNvPr>
          <p:cNvSpPr txBox="1"/>
          <p:nvPr/>
        </p:nvSpPr>
        <p:spPr>
          <a:xfrm>
            <a:off x="6877664" y="4325041"/>
            <a:ext cx="521109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</a:t>
            </a:r>
            <a:r>
              <a:rPr lang="en-US" sz="2400" b="1" dirty="0"/>
              <a:t>Bar Chart </a:t>
            </a:r>
            <a:r>
              <a:rPr lang="en-US" sz="2400" dirty="0"/>
              <a:t>Represents the Total Loan Amount Distributed For Loan Purpose, Helping to Identify Which Loan Categories Contribute Most to Overall Lending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740D404-D596-A92D-0C1D-4F76BE875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427" y="717756"/>
            <a:ext cx="5319252" cy="278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79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9B1B43-C5FB-1033-41D5-7A1FF0D1B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2E69AA-4BDE-985C-4EEB-C77138CA8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99" y="78659"/>
            <a:ext cx="5582986" cy="29890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2F62DC-4790-34BC-EED3-78AC635860D3}"/>
              </a:ext>
            </a:extLst>
          </p:cNvPr>
          <p:cNvSpPr txBox="1"/>
          <p:nvPr/>
        </p:nvSpPr>
        <p:spPr>
          <a:xfrm>
            <a:off x="0" y="78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</a:t>
            </a:r>
            <a:r>
              <a:rPr lang="en-US" sz="1800" b="1" dirty="0"/>
              <a:t>. </a:t>
            </a:r>
            <a:r>
              <a:rPr lang="en-US" b="1" dirty="0"/>
              <a:t>Total Loan Amount Funded YoY % Change by Year</a:t>
            </a:r>
            <a:endParaRPr lang="en-IN" sz="1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5C200B-38F8-628D-3CC6-5420A638C500}"/>
              </a:ext>
            </a:extLst>
          </p:cNvPr>
          <p:cNvSpPr txBox="1"/>
          <p:nvPr/>
        </p:nvSpPr>
        <p:spPr>
          <a:xfrm>
            <a:off x="157315" y="447991"/>
            <a:ext cx="6096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🔹 What This Chart Shows:</a:t>
            </a:r>
          </a:p>
          <a:p>
            <a:r>
              <a:rPr lang="en-US" sz="1400" dirty="0"/>
              <a:t>This visual compares the </a:t>
            </a:r>
            <a:r>
              <a:rPr lang="en-US" sz="1400" b="1" dirty="0"/>
              <a:t>total loan amount funded each year (bars)</a:t>
            </a:r>
            <a:r>
              <a:rPr lang="en-US" sz="1400" dirty="0"/>
              <a:t> with the </a:t>
            </a:r>
            <a:r>
              <a:rPr lang="en-US" sz="1400" b="1" dirty="0"/>
              <a:t>Year-over-Year (YoY) percentage change (line)</a:t>
            </a:r>
            <a:r>
              <a:rPr lang="en-US" sz="1400" dirty="0"/>
              <a:t> from </a:t>
            </a:r>
            <a:r>
              <a:rPr lang="en-US" sz="1400" b="1" dirty="0"/>
              <a:t>2016 to 2020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Bars (Purple Columns):</a:t>
            </a:r>
            <a:r>
              <a:rPr lang="en-US" sz="1400" dirty="0"/>
              <a:t> Represent the </a:t>
            </a:r>
            <a:r>
              <a:rPr lang="en-US" sz="1400" b="1" dirty="0"/>
              <a:t>total loan amount funded (in millions)</a:t>
            </a:r>
            <a:r>
              <a:rPr lang="en-US" sz="1400" dirty="0"/>
              <a:t> for each year.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Line (With % Labels):</a:t>
            </a:r>
            <a:r>
              <a:rPr lang="en-US" sz="1400" dirty="0"/>
              <a:t> Shows how much the loan amount </a:t>
            </a:r>
            <a:r>
              <a:rPr lang="en-US" sz="1400" b="1" dirty="0"/>
              <a:t>increased or decreased compared to the previous year.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157CB8-7DBA-5374-E3F0-1F52E483791E}"/>
              </a:ext>
            </a:extLst>
          </p:cNvPr>
          <p:cNvSpPr txBox="1"/>
          <p:nvPr/>
        </p:nvSpPr>
        <p:spPr>
          <a:xfrm>
            <a:off x="157315" y="2048429"/>
            <a:ext cx="5997676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Explanation of the Trend: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2016:</a:t>
            </a:r>
            <a:br>
              <a:rPr lang="en-US" sz="1400" dirty="0"/>
            </a:br>
            <a:r>
              <a:rPr lang="en-US" sz="1400" dirty="0"/>
              <a:t>No loans were funded (</a:t>
            </a:r>
            <a:r>
              <a:rPr lang="en-US" sz="1400" b="1" dirty="0"/>
              <a:t>0M</a:t>
            </a:r>
            <a:r>
              <a:rPr lang="en-US" sz="1400" dirty="0"/>
              <a:t>) — this is the base year.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2017:</a:t>
            </a:r>
            <a:br>
              <a:rPr lang="en-US" sz="1400" dirty="0"/>
            </a:br>
            <a:r>
              <a:rPr lang="en-US" sz="1400" dirty="0"/>
              <a:t>Loan funding jumped to </a:t>
            </a:r>
            <a:r>
              <a:rPr lang="en-US" sz="1400" b="1" dirty="0"/>
              <a:t>197M</a:t>
            </a:r>
            <a:r>
              <a:rPr lang="en-US" sz="1400" dirty="0"/>
              <a:t>, showing a </a:t>
            </a:r>
            <a:r>
              <a:rPr lang="en-US" sz="1400" b="1" dirty="0"/>
              <a:t>huge YoY growth of 59,710.96%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➤ This was a major growth year as lending operations began strongly.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2018:</a:t>
            </a:r>
            <a:br>
              <a:rPr lang="en-US" sz="1400" dirty="0"/>
            </a:br>
            <a:r>
              <a:rPr lang="en-US" sz="1400" dirty="0"/>
              <a:t>Loan amount increased further to </a:t>
            </a:r>
            <a:r>
              <a:rPr lang="en-US" sz="1400" b="1" dirty="0"/>
              <a:t>281M</a:t>
            </a:r>
            <a:r>
              <a:rPr lang="en-US" sz="1400" dirty="0"/>
              <a:t>, marking a </a:t>
            </a:r>
            <a:r>
              <a:rPr lang="en-US" sz="1400" b="1" dirty="0"/>
              <a:t>+42.42% growth</a:t>
            </a:r>
            <a:r>
              <a:rPr lang="en-US" sz="1400" dirty="0"/>
              <a:t> from 2017.</a:t>
            </a:r>
            <a:br>
              <a:rPr lang="en-US" sz="1400" dirty="0"/>
            </a:br>
            <a:r>
              <a:rPr lang="en-US" sz="1400" dirty="0"/>
              <a:t>➤ Indicates continued expansion in loan distribution.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2019:</a:t>
            </a:r>
            <a:br>
              <a:rPr lang="en-US" sz="1400" dirty="0"/>
            </a:br>
            <a:r>
              <a:rPr lang="en-US" sz="1400" dirty="0"/>
              <a:t>Slight decline to </a:t>
            </a:r>
            <a:r>
              <a:rPr lang="en-US" sz="1400" b="1" dirty="0"/>
              <a:t>229M</a:t>
            </a:r>
            <a:r>
              <a:rPr lang="en-US" sz="1400" dirty="0"/>
              <a:t>, a </a:t>
            </a:r>
            <a:r>
              <a:rPr lang="en-US" sz="1400" b="1" dirty="0"/>
              <a:t>-18.53% decrease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➤ Possible reason: tighter credit checks or reduced loan demand.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2020:</a:t>
            </a:r>
            <a:br>
              <a:rPr lang="en-US" sz="1400" dirty="0"/>
            </a:br>
            <a:r>
              <a:rPr lang="en-US" sz="1400" dirty="0"/>
              <a:t>Sharp drop to </a:t>
            </a:r>
            <a:r>
              <a:rPr lang="en-US" sz="1400" b="1" dirty="0"/>
              <a:t>25M</a:t>
            </a:r>
            <a:r>
              <a:rPr lang="en-US" sz="1400" dirty="0"/>
              <a:t>, a </a:t>
            </a:r>
            <a:r>
              <a:rPr lang="en-US" sz="1400" b="1" dirty="0"/>
              <a:t>-74.26% decline</a:t>
            </a:r>
            <a:r>
              <a:rPr lang="en-US" sz="1400" dirty="0"/>
              <a:t> from the previous year.</a:t>
            </a:r>
            <a:br>
              <a:rPr lang="en-US" sz="1400" dirty="0"/>
            </a:br>
            <a:r>
              <a:rPr lang="en-US" sz="1400" dirty="0"/>
              <a:t>➤ Likely due to external factors such as economic slowdown or stricter funding criteria (possibly pandemic effect).</a:t>
            </a:r>
          </a:p>
          <a:p>
            <a:pPr>
              <a:buFont typeface="+mj-lt"/>
              <a:buAutoNum type="arabicPeriod"/>
            </a:pPr>
            <a:endParaRPr lang="en-IN" dirty="0"/>
          </a:p>
          <a:p>
            <a:r>
              <a:rPr lang="en-US" sz="1200" b="1" dirty="0"/>
              <a:t>🔹 Key Insights:</a:t>
            </a:r>
          </a:p>
          <a:p>
            <a:r>
              <a:rPr lang="en-US" sz="1200" b="1" dirty="0"/>
              <a:t>✅ Strong Growth (2017–2018): Rapid expansion in loan disbursement.</a:t>
            </a:r>
            <a:br>
              <a:rPr lang="en-US" sz="1200" b="1" dirty="0"/>
            </a:br>
            <a:r>
              <a:rPr lang="en-US" sz="1200" b="1" dirty="0"/>
              <a:t>⚠️ Decline After 2018: Loan amounts started decreasing from 2019 onwards.</a:t>
            </a:r>
            <a:br>
              <a:rPr lang="en-US" sz="1200" b="1" dirty="0"/>
            </a:br>
            <a:r>
              <a:rPr lang="en-US" sz="1200" b="1" dirty="0"/>
              <a:t>📉 2020 Sharp Fall: Major drop, showing the lowest loan funding in five years.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1992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1921D-C2EE-52CD-B7BE-CA2D2EC4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0AA828-608B-F638-1A11-B8F375C458A9}"/>
              </a:ext>
            </a:extLst>
          </p:cNvPr>
          <p:cNvSpPr txBox="1"/>
          <p:nvPr/>
        </p:nvSpPr>
        <p:spPr>
          <a:xfrm>
            <a:off x="265471" y="206381"/>
            <a:ext cx="8096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Conclusion</a:t>
            </a:r>
            <a:endParaRPr lang="en-IN" sz="3600" b="1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E676A-195B-91C9-BDEE-FA3BEAFF6F57}"/>
              </a:ext>
            </a:extLst>
          </p:cNvPr>
          <p:cNvSpPr txBox="1"/>
          <p:nvPr/>
        </p:nvSpPr>
        <p:spPr>
          <a:xfrm>
            <a:off x="265471" y="856178"/>
            <a:ext cx="106827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Bank’s main customers are young adults (26–35 age group).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Short-term (36 months) loans are most popular.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Active loans and home loans dominate the portfolio.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Collections have improved over time but declined slightly after 2018.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Certain states are driving most of the loan growth.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04C05-9C82-3BF1-32C4-B7B826B08363}"/>
              </a:ext>
            </a:extLst>
          </p:cNvPr>
          <p:cNvSpPr txBox="1"/>
          <p:nvPr/>
        </p:nvSpPr>
        <p:spPr>
          <a:xfrm>
            <a:off x="265471" y="24873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Recommendation</a:t>
            </a:r>
            <a:endParaRPr lang="en-IN" sz="3600" b="1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9235B-1801-C11E-7431-24081D9FA472}"/>
              </a:ext>
            </a:extLst>
          </p:cNvPr>
          <p:cNvSpPr txBox="1"/>
          <p:nvPr/>
        </p:nvSpPr>
        <p:spPr>
          <a:xfrm>
            <a:off x="265471" y="3160067"/>
            <a:ext cx="11661058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✅ </a:t>
            </a:r>
            <a:r>
              <a:rPr lang="en-US" b="1" dirty="0">
                <a:latin typeface="Comic Sans MS" panose="030F0702030302020204" pitchFamily="66" charset="0"/>
              </a:rPr>
              <a:t>Focus on the 26–35 age group with special loan offers.</a:t>
            </a:r>
          </a:p>
          <a:p>
            <a:r>
              <a:rPr lang="en-US" dirty="0">
                <a:latin typeface="Comic Sans MS" panose="030F0702030302020204" pitchFamily="66" charset="0"/>
              </a:rPr>
              <a:t>       Most loans are taken by this age group, so the bank should give them special offers and Plans.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b="1" dirty="0">
                <a:latin typeface="Comic Sans MS" panose="030F0702030302020204" pitchFamily="66" charset="0"/>
              </a:rPr>
              <a:t>✅ Promote home and personal loans as they are most in demand.</a:t>
            </a:r>
          </a:p>
          <a:p>
            <a:r>
              <a:rPr lang="en-US" dirty="0">
                <a:latin typeface="Comic Sans MS" panose="030F0702030302020204" pitchFamily="66" charset="0"/>
              </a:rPr>
              <a:t>        These are the most popular loan types, so increasing schemes in these areas can grow the business.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b="1" dirty="0">
                <a:latin typeface="Comic Sans MS" panose="030F0702030302020204" pitchFamily="66" charset="0"/>
              </a:rPr>
              <a:t>✅ Strengthen collection process in weak-performing regions.</a:t>
            </a:r>
          </a:p>
          <a:p>
            <a:r>
              <a:rPr lang="en-US" dirty="0">
                <a:latin typeface="Comic Sans MS" panose="030F0702030302020204" pitchFamily="66" charset="0"/>
              </a:rPr>
              <a:t>        Some states have low collections. The bank should make better plans to collect money on time.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b="1" dirty="0">
                <a:latin typeface="Comic Sans MS" panose="030F0702030302020204" pitchFamily="66" charset="0"/>
              </a:rPr>
              <a:t>✅ Track yearly loan performance to maintain growth.</a:t>
            </a:r>
          </a:p>
          <a:p>
            <a:r>
              <a:rPr lang="en-US" b="1" dirty="0">
                <a:latin typeface="Comic Sans MS" panose="030F0702030302020204" pitchFamily="66" charset="0"/>
              </a:rPr>
              <a:t>    </a:t>
            </a:r>
            <a:r>
              <a:rPr lang="en-US" dirty="0">
                <a:latin typeface="Comic Sans MS" panose="030F0702030302020204" pitchFamily="66" charset="0"/>
              </a:rPr>
              <a:t>The loan growth was high in 2018 but dropped later, so regular monitoring can help improve future </a:t>
            </a:r>
          </a:p>
          <a:p>
            <a:r>
              <a:rPr lang="en-US" b="1" dirty="0">
                <a:latin typeface="Comic Sans MS" panose="030F0702030302020204" pitchFamily="66" charset="0"/>
              </a:rPr>
              <a:t>     </a:t>
            </a:r>
            <a:r>
              <a:rPr lang="en-US" dirty="0">
                <a:latin typeface="Comic Sans MS" panose="030F0702030302020204" pitchFamily="66" charset="0"/>
              </a:rPr>
              <a:t>Performance.</a:t>
            </a:r>
            <a:br>
              <a:rPr lang="en-US" b="1" dirty="0">
                <a:latin typeface="Comic Sans MS" panose="030F0702030302020204" pitchFamily="66" charset="0"/>
              </a:rPr>
            </a:br>
            <a:r>
              <a:rPr lang="en-US" b="1" dirty="0">
                <a:latin typeface="Comic Sans MS" panose="030F0702030302020204" pitchFamily="66" charset="0"/>
              </a:rPr>
              <a:t>✅ Provide customer retention plans to reduce loan closures.</a:t>
            </a:r>
          </a:p>
          <a:p>
            <a:r>
              <a:rPr lang="en-US" b="1" dirty="0">
                <a:latin typeface="Comic Sans MS" panose="030F0702030302020204" pitchFamily="66" charset="0"/>
              </a:rPr>
              <a:t>    </a:t>
            </a:r>
            <a:r>
              <a:rPr lang="en-US" dirty="0">
                <a:latin typeface="Comic Sans MS" panose="030F0702030302020204" pitchFamily="66" charset="0"/>
              </a:rPr>
              <a:t>Give good service to active clients and help them renew or take new loans instead of closing old</a:t>
            </a:r>
          </a:p>
          <a:p>
            <a:r>
              <a:rPr lang="en-US" b="1" dirty="0">
                <a:latin typeface="Comic Sans MS" panose="030F0702030302020204" pitchFamily="66" charset="0"/>
              </a:rPr>
              <a:t>    </a:t>
            </a:r>
            <a:r>
              <a:rPr lang="en-US" dirty="0">
                <a:latin typeface="Comic Sans MS" panose="030F0702030302020204" pitchFamily="66" charset="0"/>
              </a:rPr>
              <a:t>Ones.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176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1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B809A0-0643-C65C-FF31-EBFBB4436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03333D-69C7-0105-5C88-704C80077BE8}"/>
              </a:ext>
            </a:extLst>
          </p:cNvPr>
          <p:cNvSpPr txBox="1"/>
          <p:nvPr/>
        </p:nvSpPr>
        <p:spPr>
          <a:xfrm>
            <a:off x="2231922" y="2880851"/>
            <a:ext cx="77281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French Script MT" panose="03020402040607040605" pitchFamily="66" charset="0"/>
              </a:rPr>
              <a:t>Thank You </a:t>
            </a:r>
            <a:endParaRPr lang="en-IN" sz="9600" dirty="0">
              <a:latin typeface="French Script MT" panose="030204020406070406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442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2282</Words>
  <Application>Microsoft Office PowerPoint</Application>
  <PresentationFormat>Widescreen</PresentationFormat>
  <Paragraphs>164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Algerian</vt:lpstr>
      <vt:lpstr>Aptos</vt:lpstr>
      <vt:lpstr>Aptos Display</vt:lpstr>
      <vt:lpstr>Arial</vt:lpstr>
      <vt:lpstr>Comic Sans MS</vt:lpstr>
      <vt:lpstr>Freestyle Script</vt:lpstr>
      <vt:lpstr>French Script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 Gupta</dc:creator>
  <cp:lastModifiedBy>Akash  Gupta</cp:lastModifiedBy>
  <cp:revision>13</cp:revision>
  <dcterms:created xsi:type="dcterms:W3CDTF">2025-10-23T15:18:12Z</dcterms:created>
  <dcterms:modified xsi:type="dcterms:W3CDTF">2025-10-30T04:11:51Z</dcterms:modified>
</cp:coreProperties>
</file>